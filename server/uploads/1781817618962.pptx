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9" r:id="rId3"/>
    <p:sldId id="260" r:id="rId4"/>
    <p:sldId id="262" r:id="rId5"/>
    <p:sldId id="265" r:id="rId6"/>
    <p:sldId id="266" r:id="rId7"/>
    <p:sldId id="267" r:id="rId8"/>
    <p:sldId id="268" r:id="rId9"/>
    <p:sldId id="269" r:id="rId10"/>
    <p:sldId id="270" r:id="rId11"/>
    <p:sldId id="271" r:id="rId12"/>
    <p:sldId id="272" r:id="rId13"/>
    <p:sldId id="273" r:id="rId14"/>
    <p:sldId id="275" r:id="rId15"/>
    <p:sldId id="276" r:id="rId16"/>
    <p:sldId id="26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BD28AC-61B0-4BDB-9F57-BA5AA13C43CE}" v="71" dt="2025-11-28T08:01:46.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88" d="100"/>
          <a:sy n="88" d="100"/>
        </p:scale>
        <p:origin x="86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14D902-C3D8-4B89-8CA2-F46ED1AB00D8}" type="datetimeFigureOut">
              <a:rPr lang="en-IN" smtClean="0"/>
              <a:t>18-06-2026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5E3D19-14DE-4DB0-9DBF-8E37373B2BED}" type="slidenum">
              <a:rPr lang="en-IN" smtClean="0"/>
              <a:t>‹#›</a:t>
            </a:fld>
            <a:endParaRPr lang="en-IN"/>
          </a:p>
        </p:txBody>
      </p:sp>
    </p:spTree>
    <p:extLst>
      <p:ext uri="{BB962C8B-B14F-4D97-AF65-F5344CB8AC3E}">
        <p14:creationId xmlns:p14="http://schemas.microsoft.com/office/powerpoint/2010/main" val="23223077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65E3D19-14DE-4DB0-9DBF-8E37373B2BED}" type="slidenum">
              <a:rPr lang="en-IN" smtClean="0"/>
              <a:t>15</a:t>
            </a:fld>
            <a:endParaRPr lang="en-IN"/>
          </a:p>
        </p:txBody>
      </p:sp>
    </p:spTree>
    <p:extLst>
      <p:ext uri="{BB962C8B-B14F-4D97-AF65-F5344CB8AC3E}">
        <p14:creationId xmlns:p14="http://schemas.microsoft.com/office/powerpoint/2010/main" val="31145059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FF61A-EAC6-29CD-7977-DA47373AB7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076869-FB18-86F7-6D04-305B41C6BE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BDFE93-D2BA-9AC7-E196-51A77C5051E1}"/>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8A89E5BE-4EF6-9049-7FFA-0D133542E5B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E8730C-3E3F-09FA-AF28-FC55ECDAA6B9}"/>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3193804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B80E6-044E-E72D-0982-CAFB645AFE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C322DC1-F7FB-6111-241C-A09617C7F9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59F71C-6769-59FC-64A3-0B42623C1B36}"/>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2E63F5F1-9219-0D28-3B85-76D18AD924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1EF09C-931F-BA74-7AC0-1425E730DBDB}"/>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1070301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F101D-4BDF-FA58-61DF-1707A8BC1B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9DC8D6C-8DBF-B4DF-D63E-C671C57FBD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EE0CEF-34FF-4203-002E-C393A4904F3B}"/>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3749FBED-62CB-DCCE-82F2-55973B9147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180520-AAFE-4408-463F-59C69974E6CB}"/>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2887659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6DFE8-04A8-30C2-D97F-FF51196720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E15DDB5-C569-6ECE-34C2-AAB88F3527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E97067B-4270-B341-B207-E75601D90F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1FD350-3352-CC98-2B78-D6488C9C502F}"/>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6" name="Footer Placeholder 5">
            <a:extLst>
              <a:ext uri="{FF2B5EF4-FFF2-40B4-BE49-F238E27FC236}">
                <a16:creationId xmlns:a16="http://schemas.microsoft.com/office/drawing/2014/main" id="{A90281B8-8B7B-A4C5-0088-16C4AA4492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CEEBB3-B36D-B756-5721-CD24D4D1218A}"/>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546631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A584-6F05-2B6F-B950-45FB8D393DC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F7046E2-1CB5-182E-EFD8-9B15CA4AD8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8F04654-8082-EA07-4DD0-3D4BE834FB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071C14F-44AB-A1F6-AECA-DBE3F55FD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E4B89-ED42-8915-970A-EE6DAC2B61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3F7E712-E104-6B0A-EEAC-DF36AA7EA631}"/>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8" name="Footer Placeholder 7">
            <a:extLst>
              <a:ext uri="{FF2B5EF4-FFF2-40B4-BE49-F238E27FC236}">
                <a16:creationId xmlns:a16="http://schemas.microsoft.com/office/drawing/2014/main" id="{DCEEDB44-F904-5CBA-05AA-9E44914FEBC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DAA3009-45EB-8133-3534-68230FFF012F}"/>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41784987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3A7F-E0CB-B564-FF1F-2292D50F909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26B78F-7384-B8B6-DBB2-4D2A73E6AFD1}"/>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4" name="Footer Placeholder 3">
            <a:extLst>
              <a:ext uri="{FF2B5EF4-FFF2-40B4-BE49-F238E27FC236}">
                <a16:creationId xmlns:a16="http://schemas.microsoft.com/office/drawing/2014/main" id="{80B63B6B-C28B-067D-7E8A-62F537E8D5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57F484-12FA-C8B7-A008-737A3EF97804}"/>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4038430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D8231E-DDB4-37BF-78C9-A83457070F1E}"/>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3" name="Footer Placeholder 2">
            <a:extLst>
              <a:ext uri="{FF2B5EF4-FFF2-40B4-BE49-F238E27FC236}">
                <a16:creationId xmlns:a16="http://schemas.microsoft.com/office/drawing/2014/main" id="{578D406F-3710-CB3A-8E2C-6F14DC948A6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E9BBE9-D579-D6EA-7019-28DB6766D5D9}"/>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1714674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59ECD-ED5A-8F21-48B0-C163419CC9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F0AC55-9DBE-9B88-3931-AF127697E8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C4B6CD4-74C3-9917-5B1C-A4F6AE0AE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B3903A-88B9-ABAC-41A4-E14121C2CDA7}"/>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6" name="Footer Placeholder 5">
            <a:extLst>
              <a:ext uri="{FF2B5EF4-FFF2-40B4-BE49-F238E27FC236}">
                <a16:creationId xmlns:a16="http://schemas.microsoft.com/office/drawing/2014/main" id="{6881F65F-D136-BCA1-D454-3FA3172D20C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49596F-838F-042C-C8CB-B2F6BDEFE626}"/>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734082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CF41A-501E-522E-BA7C-980803B4D7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94BFD6-91C2-2A28-20B7-0F7C3F70FC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EC5E1A3-0E8F-C193-7DA3-0BFA818C21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EF1F2E-BFD3-EEFC-41BE-33D0A238A5B9}"/>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6" name="Footer Placeholder 5">
            <a:extLst>
              <a:ext uri="{FF2B5EF4-FFF2-40B4-BE49-F238E27FC236}">
                <a16:creationId xmlns:a16="http://schemas.microsoft.com/office/drawing/2014/main" id="{650C135F-D0DB-2D28-800E-AF301BFB73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29D72A-6425-B4B2-A853-5EBE59029787}"/>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1007406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D1F65-9A31-764E-CE97-DF502F4937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72C1A2-3CC7-16BB-C9E8-B4B5CBCE1A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10096-FB68-B19B-909A-3423C6CAA651}"/>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D0169551-4D3A-162C-2D22-40A7ECBA84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1D2814-C187-5C2B-9E9B-86E4389C3995}"/>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1385204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D9BB4-2BD6-A5D6-D788-D163B8B6EB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A23233-CAFB-15E9-11C6-E89BB24229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FED04-46BE-AFBE-96E3-93F058EC1DD2}"/>
              </a:ext>
            </a:extLst>
          </p:cNvPr>
          <p:cNvSpPr>
            <a:spLocks noGrp="1"/>
          </p:cNvSpPr>
          <p:nvPr>
            <p:ph type="dt" sz="half" idx="10"/>
          </p:nvPr>
        </p:nvSpPr>
        <p:spPr/>
        <p:txBody>
          <a:body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663276D0-ED7F-FFA3-F15C-8D095D4BB8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76815D-637E-2813-6BA6-F4DAD43ACAB7}"/>
              </a:ext>
            </a:extLst>
          </p:cNvPr>
          <p:cNvSpPr>
            <a:spLocks noGrp="1"/>
          </p:cNvSpPr>
          <p:nvPr>
            <p:ph type="sldNum" sz="quarter" idx="12"/>
          </p:nvPr>
        </p:nvSpPr>
        <p:spPr/>
        <p:txBody>
          <a:bodyPr/>
          <a:lstStyle/>
          <a:p>
            <a:fld id="{14E30948-0520-4220-8F70-30172AFCF240}" type="slidenum">
              <a:rPr lang="en-IN" smtClean="0"/>
              <a:t>‹#›</a:t>
            </a:fld>
            <a:endParaRPr lang="en-IN"/>
          </a:p>
        </p:txBody>
      </p:sp>
    </p:spTree>
    <p:extLst>
      <p:ext uri="{BB962C8B-B14F-4D97-AF65-F5344CB8AC3E}">
        <p14:creationId xmlns:p14="http://schemas.microsoft.com/office/powerpoint/2010/main" val="820534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06D9C-F6FA-CDF1-8A1A-0895959BF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6793DD-FF70-B596-1777-1CC6EDB23F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5B5B14-42BF-B9F0-B46D-480DF544E2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3FAD5-CACF-4BFD-8C86-1E716091A632}" type="datetimeFigureOut">
              <a:rPr lang="en-IN" smtClean="0"/>
              <a:t>18-06-2026</a:t>
            </a:fld>
            <a:endParaRPr lang="en-IN"/>
          </a:p>
        </p:txBody>
      </p:sp>
      <p:sp>
        <p:nvSpPr>
          <p:cNvPr id="5" name="Footer Placeholder 4">
            <a:extLst>
              <a:ext uri="{FF2B5EF4-FFF2-40B4-BE49-F238E27FC236}">
                <a16:creationId xmlns:a16="http://schemas.microsoft.com/office/drawing/2014/main" id="{73F0341D-859A-CE64-8DC0-9994B533DC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215B2EF-C3F0-EF6A-A41E-D645D2E75C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E30948-0520-4220-8F70-30172AFCF240}" type="slidenum">
              <a:rPr lang="en-IN" smtClean="0"/>
              <a:t>‹#›</a:t>
            </a:fld>
            <a:endParaRPr lang="en-IN"/>
          </a:p>
        </p:txBody>
      </p:sp>
    </p:spTree>
    <p:extLst>
      <p:ext uri="{BB962C8B-B14F-4D97-AF65-F5344CB8AC3E}">
        <p14:creationId xmlns:p14="http://schemas.microsoft.com/office/powerpoint/2010/main" val="5603533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ieeexplore.ieee.org/document/10013345" TargetMode="External"/><Relationship Id="rId5" Type="http://schemas.openxmlformats.org/officeDocument/2006/relationships/hyperlink" Target="https://thesai.org/Downloads/Volume15No1/Paper_3-Automatic_MCQs_Generation_using_NLP.pdf" TargetMode="External"/><Relationship Id="rId4" Type="http://schemas.openxmlformats.org/officeDocument/2006/relationships/hyperlink" Target="https://link.springer.com/article/10.1007/s10639-023-11928-8"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a:xfrm>
            <a:off x="731004" y="1340503"/>
            <a:ext cx="11194298" cy="4491267"/>
          </a:xfrm>
          <a:prstGeom prst="rect">
            <a:avLst/>
          </a:prstGeom>
        </p:spPr>
        <p:txBody>
          <a:bodyPr vert="horz" lIns="91440" tIns="45720" rIns="91440" bIns="45720" rtlCol="0">
            <a:normAutofit/>
          </a:bodyPr>
          <a:lstStyle/>
          <a:p>
            <a:pPr lvl="0" algn="ctr">
              <a:spcBef>
                <a:spcPct val="20000"/>
              </a:spcBef>
              <a:defRPr/>
            </a:pPr>
            <a:r>
              <a:rPr lang="en-US" sz="2800" b="1" dirty="0">
                <a:solidFill>
                  <a:schemeClr val="tx2">
                    <a:lumMod val="50000"/>
                  </a:schemeClr>
                </a:solidFill>
                <a:latin typeface="Times New Roman" panose="02020603050405020304" pitchFamily="18" charset="0"/>
                <a:cs typeface="Times New Roman" panose="02020603050405020304" pitchFamily="18" charset="0"/>
              </a:rPr>
              <a:t>SAGAR INSTITUTE OF RESEARCH AND TECHNOLOGY</a:t>
            </a:r>
          </a:p>
          <a:p>
            <a:pPr lvl="0" algn="ctr">
              <a:spcBef>
                <a:spcPct val="20000"/>
              </a:spcBef>
              <a:defRPr/>
            </a:pPr>
            <a:r>
              <a:rPr lang="en-US" sz="2200" b="1" dirty="0">
                <a:solidFill>
                  <a:schemeClr val="tx2">
                    <a:lumMod val="50000"/>
                  </a:schemeClr>
                </a:solidFill>
                <a:latin typeface="Times New Roman" panose="02020603050405020304" pitchFamily="18" charset="0"/>
                <a:cs typeface="Times New Roman" panose="02020603050405020304" pitchFamily="18" charset="0"/>
              </a:rPr>
              <a:t>DEPARTMENT OF COMPUTER SCIENCE &amp; ENGINEERING</a:t>
            </a:r>
            <a:endParaRPr lang="en-US" sz="2100" b="1" dirty="0">
              <a:solidFill>
                <a:schemeClr val="tx2">
                  <a:lumMod val="50000"/>
                </a:schemeClr>
              </a:solidFill>
              <a:latin typeface="Times New Roman" panose="02020603050405020304" pitchFamily="18" charset="0"/>
              <a:cs typeface="Times New Roman" panose="02020603050405020304" pitchFamily="18" charset="0"/>
            </a:endParaRPr>
          </a:p>
          <a:p>
            <a:pPr lvl="0" algn="ctr">
              <a:spcBef>
                <a:spcPct val="20000"/>
              </a:spcBef>
              <a:defRPr/>
            </a:pPr>
            <a:endParaRPr lang="en-US" sz="1700" b="1" dirty="0">
              <a:solidFill>
                <a:schemeClr val="tx2">
                  <a:lumMod val="50000"/>
                </a:schemeClr>
              </a:solidFill>
              <a:latin typeface="Times New Roman" panose="02020603050405020304" pitchFamily="18" charset="0"/>
              <a:cs typeface="Times New Roman" panose="02020603050405020304" pitchFamily="18" charset="0"/>
            </a:endParaRPr>
          </a:p>
          <a:p>
            <a:pPr lvl="0" algn="ctr">
              <a:spcBef>
                <a:spcPct val="20000"/>
              </a:spcBef>
              <a:defRPr/>
            </a:pPr>
            <a:r>
              <a:rPr lang="en-US" sz="2800" b="1" dirty="0">
                <a:solidFill>
                  <a:schemeClr val="tx2">
                    <a:lumMod val="50000"/>
                  </a:schemeClr>
                </a:solidFill>
                <a:latin typeface="Times New Roman" panose="02020603050405020304" pitchFamily="18" charset="0"/>
                <a:cs typeface="Times New Roman" panose="02020603050405020304" pitchFamily="18" charset="0"/>
              </a:rPr>
              <a:t>Project Title </a:t>
            </a:r>
          </a:p>
          <a:p>
            <a:pPr lvl="0" algn="ctr">
              <a:spcBef>
                <a:spcPct val="20000"/>
              </a:spcBef>
              <a:defRPr/>
            </a:pPr>
            <a:r>
              <a:rPr lang="en-US" sz="2800" b="1" dirty="0">
                <a:solidFill>
                  <a:schemeClr val="tx2">
                    <a:lumMod val="50000"/>
                  </a:schemeClr>
                </a:solidFill>
                <a:latin typeface="Times New Roman" panose="02020603050405020304" pitchFamily="18" charset="0"/>
                <a:cs typeface="Times New Roman" panose="02020603050405020304" pitchFamily="18" charset="0"/>
              </a:rPr>
              <a:t> ”AI Driven MCQ Quiz Generator (Shuffle Based) ”</a:t>
            </a:r>
          </a:p>
          <a:p>
            <a:pPr lvl="0">
              <a:spcBef>
                <a:spcPct val="20000"/>
              </a:spcBef>
              <a:defRPr/>
            </a:pPr>
            <a:endParaRPr lang="en-US" sz="2200" b="1" dirty="0">
              <a:solidFill>
                <a:schemeClr val="tx2">
                  <a:lumMod val="50000"/>
                </a:schemeClr>
              </a:solidFill>
              <a:latin typeface="Times New Roman" panose="02020603050405020304" pitchFamily="18" charset="0"/>
              <a:cs typeface="Times New Roman" panose="02020603050405020304" pitchFamily="18" charset="0"/>
            </a:endParaRPr>
          </a:p>
          <a:p>
            <a:pPr lvl="0">
              <a:spcBef>
                <a:spcPct val="20000"/>
              </a:spcBef>
              <a:defRPr/>
            </a:pPr>
            <a:r>
              <a:rPr lang="en-US" sz="2200" b="1" dirty="0">
                <a:solidFill>
                  <a:schemeClr val="tx2">
                    <a:lumMod val="50000"/>
                  </a:schemeClr>
                </a:solidFill>
                <a:latin typeface="Times New Roman" panose="02020603050405020304" pitchFamily="18" charset="0"/>
                <a:cs typeface="Times New Roman" panose="02020603050405020304" pitchFamily="18" charset="0"/>
              </a:rPr>
              <a:t>Team Members :</a:t>
            </a:r>
            <a:r>
              <a:rPr lang="en-US" sz="2800" b="1" dirty="0">
                <a:solidFill>
                  <a:schemeClr val="tx2">
                    <a:lumMod val="50000"/>
                  </a:schemeClr>
                </a:solidFill>
                <a:latin typeface="Times New Roman" panose="02020603050405020304" pitchFamily="18" charset="0"/>
                <a:cs typeface="Times New Roman" panose="02020603050405020304" pitchFamily="18" charset="0"/>
              </a:rPr>
              <a:t>				</a:t>
            </a:r>
            <a:r>
              <a:rPr lang="en-US" sz="2200" b="1" dirty="0">
                <a:solidFill>
                  <a:schemeClr val="tx2">
                    <a:lumMod val="50000"/>
                  </a:schemeClr>
                </a:solidFill>
                <a:latin typeface="Times New Roman" panose="02020603050405020304" pitchFamily="18" charset="0"/>
                <a:cs typeface="Times New Roman" panose="02020603050405020304" pitchFamily="18" charset="0"/>
              </a:rPr>
              <a:t>Under the Supervision of :</a:t>
            </a:r>
            <a:endParaRPr lang="en-US" sz="2800" b="1" dirty="0">
              <a:solidFill>
                <a:schemeClr val="tx2">
                  <a:lumMod val="50000"/>
                </a:schemeClr>
              </a:solidFill>
              <a:latin typeface="Times New Roman" panose="02020603050405020304" pitchFamily="18" charset="0"/>
              <a:cs typeface="Times New Roman" panose="02020603050405020304" pitchFamily="18" charset="0"/>
            </a:endParaRPr>
          </a:p>
          <a:p>
            <a:pPr lvl="0">
              <a:spcBef>
                <a:spcPct val="20000"/>
              </a:spcBef>
              <a:defRPr/>
            </a:pPr>
            <a:r>
              <a:rPr lang="en-US" sz="1900" b="1" dirty="0">
                <a:solidFill>
                  <a:schemeClr val="tx2">
                    <a:lumMod val="50000"/>
                  </a:schemeClr>
                </a:solidFill>
                <a:latin typeface="Times New Roman" panose="02020603050405020304" pitchFamily="18" charset="0"/>
                <a:cs typeface="Times New Roman" panose="02020603050405020304" pitchFamily="18" charset="0"/>
              </a:rPr>
              <a:t>1. Pranshu Mishra 				    Prof. Amit Sengar</a:t>
            </a:r>
          </a:p>
          <a:p>
            <a:pPr lvl="0">
              <a:spcBef>
                <a:spcPct val="20000"/>
              </a:spcBef>
              <a:defRPr/>
            </a:pPr>
            <a:r>
              <a:rPr lang="en-US" sz="1900" b="1" dirty="0">
                <a:solidFill>
                  <a:schemeClr val="tx2">
                    <a:lumMod val="50000"/>
                  </a:schemeClr>
                </a:solidFill>
                <a:latin typeface="Times New Roman" panose="02020603050405020304" pitchFamily="18" charset="0"/>
                <a:cs typeface="Times New Roman" panose="02020603050405020304" pitchFamily="18" charset="0"/>
              </a:rPr>
              <a:t>2. Priyaranjan Singh</a:t>
            </a:r>
          </a:p>
          <a:p>
            <a:pPr lvl="0">
              <a:spcBef>
                <a:spcPct val="20000"/>
              </a:spcBef>
              <a:defRPr/>
            </a:pPr>
            <a:endParaRPr lang="en-US" sz="2400" dirty="0">
              <a:solidFill>
                <a:schemeClr val="tx2">
                  <a:lumMod val="50000"/>
                </a:schemeClr>
              </a:solidFill>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43E96900-8567-47C0-B10E-6D942164E39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1378" y="37695"/>
            <a:ext cx="1073549" cy="98157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The SAGE Group Bhopal – Company in India | Group in India">
            <a:extLst>
              <a:ext uri="{FF2B5EF4-FFF2-40B4-BE49-F238E27FC236}">
                <a16:creationId xmlns:a16="http://schemas.microsoft.com/office/drawing/2014/main" id="{6297F9A8-58DC-46E8-92EF-B2A952A522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51753" y="81111"/>
            <a:ext cx="1073549" cy="942871"/>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a:extLst>
              <a:ext uri="{FF2B5EF4-FFF2-40B4-BE49-F238E27FC236}">
                <a16:creationId xmlns:a16="http://schemas.microsoft.com/office/drawing/2014/main" id="{2E25E79C-FA2B-43C4-9DD3-AEC62DFFB9D8}"/>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1026" name="Picture 2" descr="Central India's Best Engineering College in Bhopal, Madhya Pradesh: SIRT">
            <a:extLst>
              <a:ext uri="{FF2B5EF4-FFF2-40B4-BE49-F238E27FC236}">
                <a16:creationId xmlns:a16="http://schemas.microsoft.com/office/drawing/2014/main" id="{D549946B-BD25-3552-9A43-7F6CFC70E1E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9950" y="347616"/>
            <a:ext cx="2612922" cy="67636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B992DBDD-BC8D-BA5D-D503-966E443C4EC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2AF0F79-4551-C038-F715-CD2122AA4F33}"/>
              </a:ext>
            </a:extLst>
          </p:cNvPr>
          <p:cNvSpPr txBox="1"/>
          <p:nvPr/>
        </p:nvSpPr>
        <p:spPr>
          <a:xfrm>
            <a:off x="-1444179" y="6462593"/>
            <a:ext cx="6324601" cy="307777"/>
          </a:xfrm>
          <a:prstGeom prst="rect">
            <a:avLst/>
          </a:prstGeom>
          <a:noFill/>
        </p:spPr>
        <p:txBody>
          <a:bodyPr wrap="square" rtlCol="0">
            <a:spAutoFit/>
          </a:bodyPr>
          <a:lstStyle/>
          <a:p>
            <a:pPr algn="ctr"/>
            <a:r>
              <a:rPr lang="en-US" sz="1400" b="1"/>
              <a:t>MINOR PROJECT ID : MIN12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FDAE-ABAB-FF91-7B8E-10AAEF4551E9}"/>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C075BC65-27A7-2A63-048D-DA97E465C6C9}"/>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4CB2ADEC-6586-D37A-1214-1AA445D7BF66}"/>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7B96EE4B-79E3-08BC-3449-998098390FC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FA1E6F0-2254-38C5-C554-6DC1E3571E9E}"/>
              </a:ext>
            </a:extLst>
          </p:cNvPr>
          <p:cNvSpPr txBox="1"/>
          <p:nvPr/>
        </p:nvSpPr>
        <p:spPr>
          <a:xfrm>
            <a:off x="3074477" y="6483719"/>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7" name="TextBox 6">
            <a:extLst>
              <a:ext uri="{FF2B5EF4-FFF2-40B4-BE49-F238E27FC236}">
                <a16:creationId xmlns:a16="http://schemas.microsoft.com/office/drawing/2014/main" id="{8B61C5E9-DDD4-5A72-F384-BCCE3C49BDBE}"/>
              </a:ext>
            </a:extLst>
          </p:cNvPr>
          <p:cNvSpPr txBox="1"/>
          <p:nvPr/>
        </p:nvSpPr>
        <p:spPr>
          <a:xfrm>
            <a:off x="894735" y="776748"/>
            <a:ext cx="10506418" cy="4524315"/>
          </a:xfrm>
          <a:prstGeom prst="rect">
            <a:avLst/>
          </a:prstGeom>
          <a:noFill/>
        </p:spPr>
        <p:txBody>
          <a:bodyPr wrap="square" rtlCol="0">
            <a:spAutoFit/>
          </a:bodyPr>
          <a:lstStyle/>
          <a:p>
            <a:pPr algn="ctr"/>
            <a:r>
              <a:rPr lang="en-US" sz="2400" b="1">
                <a:latin typeface="Times New Roman" panose="02020603050405020304" pitchFamily="18" charset="0"/>
                <a:cs typeface="Times New Roman" panose="02020603050405020304" pitchFamily="18" charset="0"/>
              </a:rPr>
              <a:t>LIST OF CONTENTS</a:t>
            </a:r>
          </a:p>
          <a:p>
            <a:endParaRPr lang="en-US" sz="240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Introduction</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Problem Statement</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Objective</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Proposed Methodology </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Abstract</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Literature Survey</a:t>
            </a:r>
          </a:p>
          <a:p>
            <a:pPr marL="342900" indent="-342900">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Execution Plan </a:t>
            </a:r>
          </a:p>
          <a:p>
            <a:pPr marL="342900" indent="-342900">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 Application of the proposed work</a:t>
            </a:r>
          </a:p>
          <a:p>
            <a:pPr marL="342900" indent="-342900">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 Conclusion </a:t>
            </a:r>
          </a:p>
          <a:p>
            <a:pPr marL="342900" indent="-342900">
              <a:buFont typeface="Wingdings" panose="05000000000000000000" pitchFamily="2" charset="2"/>
              <a:buChar char="Ø"/>
            </a:pPr>
            <a:r>
              <a:rPr lang="en-IN" sz="2400">
                <a:latin typeface="Times New Roman" panose="02020603050405020304" pitchFamily="18" charset="0"/>
                <a:cs typeface="Times New Roman" panose="02020603050405020304" pitchFamily="18" charset="0"/>
              </a:rPr>
              <a:t> References</a:t>
            </a:r>
          </a:p>
        </p:txBody>
      </p:sp>
    </p:spTree>
    <p:extLst>
      <p:ext uri="{BB962C8B-B14F-4D97-AF65-F5344CB8AC3E}">
        <p14:creationId xmlns:p14="http://schemas.microsoft.com/office/powerpoint/2010/main" val="2126384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E6188-9323-3406-C7E9-59374E0606A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E0A06D4-E921-7EFE-F2EB-7E6A5868C707}"/>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BCCC6413-C706-28F0-34C8-1A29D9F79E4A}"/>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15B31FAA-87AD-DF62-98AF-E46BBFC56F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CC9437-B996-3CAD-4B21-D6F684207C01}"/>
              </a:ext>
            </a:extLst>
          </p:cNvPr>
          <p:cNvSpPr txBox="1"/>
          <p:nvPr/>
        </p:nvSpPr>
        <p:spPr>
          <a:xfrm>
            <a:off x="2935140" y="6460472"/>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81E6A56B-1AA1-0F0D-8898-C85384647E88}"/>
              </a:ext>
            </a:extLst>
          </p:cNvPr>
          <p:cNvSpPr txBox="1"/>
          <p:nvPr/>
        </p:nvSpPr>
        <p:spPr>
          <a:xfrm>
            <a:off x="900605" y="297651"/>
            <a:ext cx="2718018"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INTRODUCTION</a:t>
            </a:r>
          </a:p>
        </p:txBody>
      </p:sp>
      <p:cxnSp>
        <p:nvCxnSpPr>
          <p:cNvPr id="8" name="Straight Connector 7">
            <a:extLst>
              <a:ext uri="{FF2B5EF4-FFF2-40B4-BE49-F238E27FC236}">
                <a16:creationId xmlns:a16="http://schemas.microsoft.com/office/drawing/2014/main" id="{266E45B5-ADD2-390A-7A05-3EE2FF63806D}"/>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1FB3D423-45BA-C4C4-C886-E8306CE67ABF}"/>
              </a:ext>
            </a:extLst>
          </p:cNvPr>
          <p:cNvSpPr txBox="1"/>
          <p:nvPr/>
        </p:nvSpPr>
        <p:spPr>
          <a:xfrm>
            <a:off x="785003" y="1276719"/>
            <a:ext cx="10616149" cy="2308324"/>
          </a:xfrm>
          <a:prstGeom prst="rect">
            <a:avLst/>
          </a:prstGeom>
          <a:noFill/>
        </p:spPr>
        <p:txBody>
          <a:bodyPr wrap="square">
            <a:spAutoFit/>
          </a:bodyPr>
          <a:lstStyle/>
          <a:p>
            <a:r>
              <a:rPr lang="en-US"/>
              <a:t>Today’s students rely heavily on quick practice tools for exam preparation, especially multiple-choice questions. But manually creating MCQs is time-consuming, repetitive, and often lacks variation.</a:t>
            </a:r>
          </a:p>
          <a:p>
            <a:br>
              <a:rPr lang="en-US"/>
            </a:br>
            <a:r>
              <a:rPr lang="en-US"/>
              <a:t>The </a:t>
            </a:r>
            <a:r>
              <a:rPr lang="en-US" b="1"/>
              <a:t>AI Driven MCQ Quiz Generator</a:t>
            </a:r>
            <a:r>
              <a:rPr lang="en-US"/>
              <a:t> solves this by using artificial intelligence to automatically generate fresh, unique, and topic-relevant MCQs within seconds.</a:t>
            </a:r>
          </a:p>
          <a:p>
            <a:br>
              <a:rPr lang="en-US"/>
            </a:br>
            <a:r>
              <a:rPr lang="en-US"/>
              <a:t>This system helps students revise faster, teachers prepare tests efficiently, and ensures that learning becomes more interactive, adaptive, and personalized.</a:t>
            </a:r>
            <a:endParaRPr lang="en-IN"/>
          </a:p>
        </p:txBody>
      </p:sp>
    </p:spTree>
    <p:extLst>
      <p:ext uri="{BB962C8B-B14F-4D97-AF65-F5344CB8AC3E}">
        <p14:creationId xmlns:p14="http://schemas.microsoft.com/office/powerpoint/2010/main" val="2794100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6AA96-F742-EE67-3C13-1BE0CD454F4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F28F7D9D-B2D5-D3FB-EC69-9B8E547C4746}"/>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3B6644F0-A434-669C-7731-5D58A86DDBDC}"/>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70BC0CE3-5D73-B515-4612-402FDB6AF04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04F66D9-10E9-EA9F-0F60-2634CC9D8C78}"/>
              </a:ext>
            </a:extLst>
          </p:cNvPr>
          <p:cNvSpPr txBox="1"/>
          <p:nvPr/>
        </p:nvSpPr>
        <p:spPr>
          <a:xfrm>
            <a:off x="3013517" y="6469113"/>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911849FC-2D76-DDA7-81EE-CA66BC803139}"/>
              </a:ext>
            </a:extLst>
          </p:cNvPr>
          <p:cNvSpPr txBox="1"/>
          <p:nvPr/>
        </p:nvSpPr>
        <p:spPr>
          <a:xfrm>
            <a:off x="774213" y="267067"/>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4CFED5BD-DAF3-107C-C7B2-EB5F9CF22812}"/>
              </a:ext>
            </a:extLst>
          </p:cNvPr>
          <p:cNvSpPr txBox="1"/>
          <p:nvPr/>
        </p:nvSpPr>
        <p:spPr>
          <a:xfrm>
            <a:off x="866165" y="1370593"/>
            <a:ext cx="9412941" cy="3477875"/>
          </a:xfrm>
          <a:prstGeom prst="rect">
            <a:avLst/>
          </a:prstGeom>
          <a:noFill/>
        </p:spPr>
        <p:txBody>
          <a:bodyPr wrap="square" rtlCol="0">
            <a:spAutoFit/>
          </a:bodyPr>
          <a:lstStyle/>
          <a:p>
            <a:r>
              <a:rPr lang="en-US" sz="2000"/>
              <a:t>• Teachers spend unnecessary time creating MCQs manually.</a:t>
            </a:r>
          </a:p>
          <a:p>
            <a:br>
              <a:rPr lang="en-US" sz="2000"/>
            </a:br>
            <a:r>
              <a:rPr lang="en-US" sz="2000"/>
              <a:t>• Students depend on limited fixed-question practice sets.</a:t>
            </a:r>
          </a:p>
          <a:p>
            <a:br>
              <a:rPr lang="en-US" sz="2000"/>
            </a:br>
            <a:r>
              <a:rPr lang="en-US" sz="2000"/>
              <a:t>• No automatic system exists to generate topic-wise, difficulty-based MCQs instantly.</a:t>
            </a:r>
          </a:p>
          <a:p>
            <a:br>
              <a:rPr lang="en-US" sz="2000"/>
            </a:br>
            <a:r>
              <a:rPr lang="en-US" sz="2000"/>
              <a:t>• Many quiz platforms repeat the same old questions, reducing learning effectiveness.</a:t>
            </a:r>
          </a:p>
          <a:p>
            <a:br>
              <a:rPr lang="en-US" sz="2000"/>
            </a:br>
            <a:r>
              <a:rPr lang="en-US" sz="2000"/>
              <a:t>• There is a need for a tool that creates new, diverse, and accurate MCQs automatically using AI.</a:t>
            </a:r>
          </a:p>
          <a:p>
            <a:endParaRPr lang="en-US" sz="200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329145EA-CBF0-2564-FC72-BD62A4F606AE}"/>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97719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A63D-3E09-4FFE-BB25-2434594D2E01}"/>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03F23E1-AA61-DC06-11AB-26D0E440C6F5}"/>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72BB630C-899C-15D0-E29F-AE87E9A65027}"/>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68F59D88-F272-F4D3-4933-57F98A473D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EEC6CAB-47E9-C708-3667-87EEDC83D0CA}"/>
              </a:ext>
            </a:extLst>
          </p:cNvPr>
          <p:cNvSpPr txBox="1"/>
          <p:nvPr/>
        </p:nvSpPr>
        <p:spPr>
          <a:xfrm>
            <a:off x="2935141" y="6488667"/>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227A4B84-952A-B7EB-36E5-55B9DD5F8C9C}"/>
              </a:ext>
            </a:extLst>
          </p:cNvPr>
          <p:cNvSpPr txBox="1"/>
          <p:nvPr/>
        </p:nvSpPr>
        <p:spPr>
          <a:xfrm>
            <a:off x="925898" y="285624"/>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OBJECTIVE</a:t>
            </a:r>
          </a:p>
        </p:txBody>
      </p:sp>
      <p:sp>
        <p:nvSpPr>
          <p:cNvPr id="7" name="Rectangle 2">
            <a:extLst>
              <a:ext uri="{FF2B5EF4-FFF2-40B4-BE49-F238E27FC236}">
                <a16:creationId xmlns:a16="http://schemas.microsoft.com/office/drawing/2014/main" id="{E271F8EB-FDED-EE09-F43B-EA570893B05A}"/>
              </a:ext>
            </a:extLst>
          </p:cNvPr>
          <p:cNvSpPr>
            <a:spLocks noChangeArrowheads="1"/>
          </p:cNvSpPr>
          <p:nvPr/>
        </p:nvSpPr>
        <p:spPr bwMode="auto">
          <a:xfrm>
            <a:off x="797622" y="1231476"/>
            <a:ext cx="935657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000"/>
              <a:t>• To design an AI-based system that automatically generates MCQs from any given topic or text.</a:t>
            </a:r>
          </a:p>
          <a:p>
            <a:pPr lvl="0" algn="just" eaLnBrk="0" fontAlgn="base" hangingPunct="0">
              <a:spcBef>
                <a:spcPct val="0"/>
              </a:spcBef>
              <a:spcAft>
                <a:spcPct val="0"/>
              </a:spcAft>
            </a:pPr>
            <a:br>
              <a:rPr lang="en-US" sz="2000"/>
            </a:br>
            <a:r>
              <a:rPr lang="en-US" sz="2000"/>
              <a:t>• To provide students with unlimited practice questions with different difficulty levels.</a:t>
            </a:r>
          </a:p>
          <a:p>
            <a:pPr lvl="0" algn="just" eaLnBrk="0" fontAlgn="base" hangingPunct="0">
              <a:spcBef>
                <a:spcPct val="0"/>
              </a:spcBef>
              <a:spcAft>
                <a:spcPct val="0"/>
              </a:spcAft>
            </a:pPr>
            <a:br>
              <a:rPr lang="en-US" sz="2000"/>
            </a:br>
            <a:r>
              <a:rPr lang="en-US" sz="2000"/>
              <a:t>• To help teachers create quizzes, assignments, and tests quickly.</a:t>
            </a:r>
          </a:p>
          <a:p>
            <a:pPr lvl="0" algn="just" eaLnBrk="0" fontAlgn="base" hangingPunct="0">
              <a:spcBef>
                <a:spcPct val="0"/>
              </a:spcBef>
              <a:spcAft>
                <a:spcPct val="0"/>
              </a:spcAft>
            </a:pPr>
            <a:br>
              <a:rPr lang="en-US" sz="2000"/>
            </a:br>
            <a:r>
              <a:rPr lang="en-US" sz="2000"/>
              <a:t>• To generate accurate options, correct answers, and explanations using AI.</a:t>
            </a:r>
          </a:p>
          <a:p>
            <a:pPr lvl="0" algn="just" eaLnBrk="0" fontAlgn="base" hangingPunct="0">
              <a:spcBef>
                <a:spcPct val="0"/>
              </a:spcBef>
              <a:spcAft>
                <a:spcPct val="0"/>
              </a:spcAft>
            </a:pPr>
            <a:br>
              <a:rPr lang="en-US" sz="2000"/>
            </a:br>
            <a:r>
              <a:rPr lang="en-US" sz="2000"/>
              <a:t>• To develop a fast, user-friendly, and reliable quiz-generation platform.</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8" name="Straight Connector 7">
            <a:extLst>
              <a:ext uri="{FF2B5EF4-FFF2-40B4-BE49-F238E27FC236}">
                <a16:creationId xmlns:a16="http://schemas.microsoft.com/office/drawing/2014/main" id="{ED30C0E2-2C04-CFC5-BC3D-20C61F126416}"/>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418143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8BD5B-5BFC-FBE4-7825-0B7E377E126D}"/>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6234832-CAC7-FFDA-F374-11C7B1710FD2}"/>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B2FA8D9F-99BF-95F9-7A0D-658EB6251ECB}"/>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A149D721-9538-2D36-9877-E3C143C1F18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6020D4C-BBDE-9885-C624-DF02D05144FC}"/>
              </a:ext>
            </a:extLst>
          </p:cNvPr>
          <p:cNvSpPr txBox="1"/>
          <p:nvPr/>
        </p:nvSpPr>
        <p:spPr>
          <a:xfrm>
            <a:off x="3170271" y="6488668"/>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FD247013-78F3-FB73-8687-894B074D6EE3}"/>
              </a:ext>
            </a:extLst>
          </p:cNvPr>
          <p:cNvSpPr txBox="1"/>
          <p:nvPr/>
        </p:nvSpPr>
        <p:spPr>
          <a:xfrm>
            <a:off x="900954" y="245403"/>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PROPOSED METHODOLOGY</a:t>
            </a:r>
          </a:p>
        </p:txBody>
      </p:sp>
      <p:sp>
        <p:nvSpPr>
          <p:cNvPr id="6" name="Rectangle 1">
            <a:extLst>
              <a:ext uri="{FF2B5EF4-FFF2-40B4-BE49-F238E27FC236}">
                <a16:creationId xmlns:a16="http://schemas.microsoft.com/office/drawing/2014/main" id="{7B2F01F9-6D64-54FA-21E6-CD31CB17D1AF}"/>
              </a:ext>
            </a:extLst>
          </p:cNvPr>
          <p:cNvSpPr>
            <a:spLocks noChangeArrowheads="1"/>
          </p:cNvSpPr>
          <p:nvPr/>
        </p:nvSpPr>
        <p:spPr bwMode="auto">
          <a:xfrm>
            <a:off x="1174189" y="894627"/>
            <a:ext cx="8433984"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AutoNum type="arabicPeriod"/>
            </a:pPr>
            <a:r>
              <a:rPr lang="en-US" b="1"/>
              <a:t>Input Layer</a:t>
            </a:r>
          </a:p>
          <a:p>
            <a:r>
              <a:rPr lang="en-US"/>
              <a:t>User selects a subject, topic, or uploads study text.</a:t>
            </a:r>
          </a:p>
          <a:p>
            <a:endParaRPr lang="en-US"/>
          </a:p>
          <a:p>
            <a:r>
              <a:rPr lang="en-US" b="1"/>
              <a:t>2. AI Processing Layer</a:t>
            </a:r>
          </a:p>
          <a:p>
            <a:r>
              <a:rPr lang="en-US"/>
              <a:t>AI model analyzes the content → extracts key concepts → forms MCQs.</a:t>
            </a:r>
            <a:br>
              <a:rPr lang="en-US"/>
            </a:br>
            <a:r>
              <a:rPr lang="en-US"/>
              <a:t>• Question generation</a:t>
            </a:r>
            <a:br>
              <a:rPr lang="en-US"/>
            </a:br>
            <a:r>
              <a:rPr lang="en-US"/>
              <a:t>• Option creation</a:t>
            </a:r>
            <a:br>
              <a:rPr lang="en-US"/>
            </a:br>
            <a:r>
              <a:rPr lang="en-US"/>
              <a:t>• Correct answer identification</a:t>
            </a:r>
            <a:br>
              <a:rPr lang="en-US"/>
            </a:br>
            <a:r>
              <a:rPr lang="en-US"/>
              <a:t>• Explanation creation</a:t>
            </a:r>
          </a:p>
          <a:p>
            <a:endParaRPr lang="en-US"/>
          </a:p>
          <a:p>
            <a:r>
              <a:rPr lang="en-US" b="1"/>
              <a:t>3. Quiz Generation Layer</a:t>
            </a:r>
          </a:p>
          <a:p>
            <a:r>
              <a:rPr lang="en-US"/>
              <a:t>System prepares a complete MCQ set with:</a:t>
            </a:r>
            <a:br>
              <a:rPr lang="en-US"/>
            </a:br>
            <a:r>
              <a:rPr lang="en-US"/>
              <a:t>• Questions</a:t>
            </a:r>
            <a:br>
              <a:rPr lang="en-US"/>
            </a:br>
            <a:r>
              <a:rPr lang="en-US"/>
              <a:t>• Options</a:t>
            </a:r>
            <a:br>
              <a:rPr lang="en-US"/>
            </a:br>
            <a:r>
              <a:rPr lang="en-US"/>
              <a:t>• Answer key</a:t>
            </a:r>
            <a:br>
              <a:rPr lang="en-US"/>
            </a:br>
            <a:r>
              <a:rPr lang="en-US"/>
              <a:t>• Explanations</a:t>
            </a:r>
          </a:p>
          <a:p>
            <a:r>
              <a:rPr lang="en-US" b="1"/>
              <a:t>4. Output Layer</a:t>
            </a:r>
          </a:p>
          <a:p>
            <a:r>
              <a:rPr lang="en-US"/>
              <a:t>MCQs shown to the user or exported as PDF/quiz file.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78375C18-5973-0363-AE6B-E4FB85294531}"/>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223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7D2F8-030A-BD9C-24DC-D34C73C070C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B8ABDB7A-9248-5FBF-7E35-647CD01173A7}"/>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B2DE0064-383E-9FD2-3556-FFDE05C06535}"/>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56049E19-A54E-2E05-0565-0F8316A83AD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AA5017C-6ECA-E2DE-9E20-ABE9C3A38927}"/>
              </a:ext>
            </a:extLst>
          </p:cNvPr>
          <p:cNvSpPr txBox="1"/>
          <p:nvPr/>
        </p:nvSpPr>
        <p:spPr>
          <a:xfrm>
            <a:off x="2996100" y="6488668"/>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E3EB97FB-9E84-8D66-DED1-ECA60CBA69B3}"/>
              </a:ext>
            </a:extLst>
          </p:cNvPr>
          <p:cNvSpPr txBox="1"/>
          <p:nvPr/>
        </p:nvSpPr>
        <p:spPr>
          <a:xfrm>
            <a:off x="892980" y="271947"/>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TECHNICAL ARCHITECTURE</a:t>
            </a:r>
          </a:p>
        </p:txBody>
      </p:sp>
      <p:cxnSp>
        <p:nvCxnSpPr>
          <p:cNvPr id="7" name="Straight Connector 6">
            <a:extLst>
              <a:ext uri="{FF2B5EF4-FFF2-40B4-BE49-F238E27FC236}">
                <a16:creationId xmlns:a16="http://schemas.microsoft.com/office/drawing/2014/main" id="{3C6DA6DC-A5A4-7EC1-7DA8-04CEAF37F25D}"/>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8" name="Picture 7">
            <a:extLst>
              <a:ext uri="{FF2B5EF4-FFF2-40B4-BE49-F238E27FC236}">
                <a16:creationId xmlns:a16="http://schemas.microsoft.com/office/drawing/2014/main" id="{F964D115-1B0D-99F7-F6D0-E5CC364921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323" y="733612"/>
            <a:ext cx="3312159" cy="4968239"/>
          </a:xfrm>
          <a:prstGeom prst="rect">
            <a:avLst/>
          </a:prstGeom>
        </p:spPr>
      </p:pic>
    </p:spTree>
    <p:extLst>
      <p:ext uri="{BB962C8B-B14F-4D97-AF65-F5344CB8AC3E}">
        <p14:creationId xmlns:p14="http://schemas.microsoft.com/office/powerpoint/2010/main" val="769447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1238C-C5A5-45F5-4C78-F04B0C71A34B}"/>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7D5D647-8998-2EBD-085D-48545237CF60}"/>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6671E6CC-A9A4-CD20-5519-9D113EBB98E0}"/>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7F7C0E42-C217-7215-61F8-8B76177A4A1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C0A030-F427-C305-CC50-3E9F744E3DC2}"/>
              </a:ext>
            </a:extLst>
          </p:cNvPr>
          <p:cNvSpPr txBox="1"/>
          <p:nvPr/>
        </p:nvSpPr>
        <p:spPr>
          <a:xfrm>
            <a:off x="3144146" y="6488668"/>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63CF03F5-F117-2B50-C38E-D375E9005E5A}"/>
              </a:ext>
            </a:extLst>
          </p:cNvPr>
          <p:cNvSpPr txBox="1"/>
          <p:nvPr/>
        </p:nvSpPr>
        <p:spPr>
          <a:xfrm>
            <a:off x="982638" y="436991"/>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ABSTRACT</a:t>
            </a:r>
          </a:p>
        </p:txBody>
      </p:sp>
      <p:sp>
        <p:nvSpPr>
          <p:cNvPr id="5" name="TextBox 4">
            <a:extLst>
              <a:ext uri="{FF2B5EF4-FFF2-40B4-BE49-F238E27FC236}">
                <a16:creationId xmlns:a16="http://schemas.microsoft.com/office/drawing/2014/main" id="{59E8A011-79AB-5EBD-09B2-8D6CF8A56BC0}"/>
              </a:ext>
            </a:extLst>
          </p:cNvPr>
          <p:cNvSpPr txBox="1"/>
          <p:nvPr/>
        </p:nvSpPr>
        <p:spPr>
          <a:xfrm>
            <a:off x="982638" y="1511391"/>
            <a:ext cx="9880979" cy="1938992"/>
          </a:xfrm>
          <a:prstGeom prst="rect">
            <a:avLst/>
          </a:prstGeom>
          <a:noFill/>
        </p:spPr>
        <p:txBody>
          <a:bodyPr wrap="square" rtlCol="0">
            <a:spAutoFit/>
          </a:bodyPr>
          <a:lstStyle/>
          <a:p>
            <a:pPr algn="just"/>
            <a:r>
              <a:rPr lang="en-US" sz="2000"/>
              <a:t>The </a:t>
            </a:r>
            <a:r>
              <a:rPr lang="en-US" sz="2000" b="1"/>
              <a:t>AI Driven MCQ Quiz Generator</a:t>
            </a:r>
            <a:r>
              <a:rPr lang="en-US" sz="2000"/>
              <a:t> is a smart system designed to automatically generate multiple-choice questions using artificial intelligence. It analyzes input text or topic keywords and produces high-quality MCQs with correct answers and explanations. This helps both students and teachers by saving time and increasing learning efficiency. The system aims to modernize education by providing unlimited, diverse, and accurate quiz content.</a:t>
            </a:r>
          </a:p>
          <a:p>
            <a:pPr algn="just"/>
            <a:endParaRPr lang="en-IN" sz="200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72EA7A57-BDB5-97EE-CC0E-A2FF0E03D9CA}"/>
              </a:ext>
            </a:extLst>
          </p:cNvPr>
          <p:cNvCxnSpPr>
            <a:cxnSpLocks/>
          </p:cNvCxnSpPr>
          <p:nvPr/>
        </p:nvCxnSpPr>
        <p:spPr>
          <a:xfrm>
            <a:off x="590936" y="436991"/>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177050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6A60-17C9-7640-6921-2E1C45B1E4E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9589B945-EB14-7F66-6CF5-FE570DB175C1}"/>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8D2DE901-FA81-3ABD-0550-4B3EC0931A58}"/>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9E454389-62F1-6BEE-42A5-0DF01E35FB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F7138A-591C-0E54-3619-8B8C47462E65}"/>
              </a:ext>
            </a:extLst>
          </p:cNvPr>
          <p:cNvSpPr txBox="1"/>
          <p:nvPr/>
        </p:nvSpPr>
        <p:spPr>
          <a:xfrm>
            <a:off x="3118020" y="6475010"/>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67F93293-D102-1D28-A536-497B9877BC9E}"/>
              </a:ext>
            </a:extLst>
          </p:cNvPr>
          <p:cNvSpPr txBox="1"/>
          <p:nvPr/>
        </p:nvSpPr>
        <p:spPr>
          <a:xfrm>
            <a:off x="784031" y="285624"/>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LITERATURE REVIEW</a:t>
            </a:r>
          </a:p>
        </p:txBody>
      </p:sp>
      <p:graphicFrame>
        <p:nvGraphicFramePr>
          <p:cNvPr id="5" name="Table 4">
            <a:extLst>
              <a:ext uri="{FF2B5EF4-FFF2-40B4-BE49-F238E27FC236}">
                <a16:creationId xmlns:a16="http://schemas.microsoft.com/office/drawing/2014/main" id="{38E90BBE-8EE3-FF02-9535-0B054F4E3C8A}"/>
              </a:ext>
            </a:extLst>
          </p:cNvPr>
          <p:cNvGraphicFramePr>
            <a:graphicFrameLocks noGrp="1"/>
          </p:cNvGraphicFramePr>
          <p:nvPr>
            <p:extLst>
              <p:ext uri="{D42A27DB-BD31-4B8C-83A1-F6EECF244321}">
                <p14:modId xmlns:p14="http://schemas.microsoft.com/office/powerpoint/2010/main" val="1774524660"/>
              </p:ext>
            </p:extLst>
          </p:nvPr>
        </p:nvGraphicFramePr>
        <p:xfrm>
          <a:off x="426725" y="1351283"/>
          <a:ext cx="11144080" cy="4742805"/>
        </p:xfrm>
        <a:graphic>
          <a:graphicData uri="http://schemas.openxmlformats.org/drawingml/2006/table">
            <a:tbl>
              <a:tblPr firstRow="1" bandRow="1">
                <a:tableStyleId>{2D5ABB26-0587-4C30-8999-92F81FD0307C}</a:tableStyleId>
              </a:tblPr>
              <a:tblGrid>
                <a:gridCol w="2228816">
                  <a:extLst>
                    <a:ext uri="{9D8B030D-6E8A-4147-A177-3AD203B41FA5}">
                      <a16:colId xmlns:a16="http://schemas.microsoft.com/office/drawing/2014/main" val="2188105287"/>
                    </a:ext>
                  </a:extLst>
                </a:gridCol>
                <a:gridCol w="2200939">
                  <a:extLst>
                    <a:ext uri="{9D8B030D-6E8A-4147-A177-3AD203B41FA5}">
                      <a16:colId xmlns:a16="http://schemas.microsoft.com/office/drawing/2014/main" val="3805940021"/>
                    </a:ext>
                  </a:extLst>
                </a:gridCol>
                <a:gridCol w="2256693">
                  <a:extLst>
                    <a:ext uri="{9D8B030D-6E8A-4147-A177-3AD203B41FA5}">
                      <a16:colId xmlns:a16="http://schemas.microsoft.com/office/drawing/2014/main" val="3808395183"/>
                    </a:ext>
                  </a:extLst>
                </a:gridCol>
                <a:gridCol w="2228816">
                  <a:extLst>
                    <a:ext uri="{9D8B030D-6E8A-4147-A177-3AD203B41FA5}">
                      <a16:colId xmlns:a16="http://schemas.microsoft.com/office/drawing/2014/main" val="156603698"/>
                    </a:ext>
                  </a:extLst>
                </a:gridCol>
                <a:gridCol w="2228816">
                  <a:extLst>
                    <a:ext uri="{9D8B030D-6E8A-4147-A177-3AD203B41FA5}">
                      <a16:colId xmlns:a16="http://schemas.microsoft.com/office/drawing/2014/main" val="1039579902"/>
                    </a:ext>
                  </a:extLst>
                </a:gridCol>
              </a:tblGrid>
              <a:tr h="438132">
                <a:tc>
                  <a:txBody>
                    <a:bodyPr/>
                    <a:lstStyle/>
                    <a:p>
                      <a:pPr algn="ctr"/>
                      <a:r>
                        <a:rPr lang="en-IN" b="1">
                          <a:latin typeface="Times New Roman" panose="02020603050405020304" pitchFamily="18" charset="0"/>
                          <a:cs typeface="Times New Roman" panose="02020603050405020304" pitchFamily="18" charset="0"/>
                        </a:rPr>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a:latin typeface="Times New Roman" panose="02020603050405020304" pitchFamily="18" charset="0"/>
                          <a:cs typeface="Times New Roman" panose="02020603050405020304" pitchFamily="18" charset="0"/>
                        </a:rPr>
                        <a:t>Reference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a:latin typeface="Times New Roman" panose="02020603050405020304" pitchFamily="18" charset="0"/>
                          <a:cs typeface="Times New Roman" panose="02020603050405020304" pitchFamily="18" charset="0"/>
                        </a:rPr>
                        <a:t>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a:latin typeface="Times New Roman" panose="02020603050405020304" pitchFamily="18" charset="0"/>
                          <a:cs typeface="Times New Roman" panose="02020603050405020304" pitchFamily="18" charset="0"/>
                        </a:rPr>
                        <a:t>Limitations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b="1">
                          <a:latin typeface="Times New Roman" panose="02020603050405020304" pitchFamily="18" charset="0"/>
                          <a:cs typeface="Times New Roman" panose="02020603050405020304" pitchFamily="18" charset="0"/>
                        </a:rPr>
                        <a:t>Conclusion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42741840"/>
                  </a:ext>
                </a:extLst>
              </a:tr>
              <a:tr h="1591881">
                <a:tc>
                  <a:txBody>
                    <a:bodyPr/>
                    <a:lstStyle/>
                    <a:p>
                      <a:pPr algn="ctr"/>
                      <a:r>
                        <a:rPr lang="en-IN">
                          <a:latin typeface="Times New Roman" panose="02020603050405020304" pitchFamily="18" charset="0"/>
                          <a:cs typeface="Times New Roman" panose="02020603050405020304" pitchFamily="18" charset="0"/>
                        </a:rPr>
                        <a:t>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600"/>
                        <a:t>Shalini &amp; Priyadharshini, Automated Question Generation (IEEE)</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NLP + DL generate MCQs effectively</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Distractors sometimes irrelevant; high model cost</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Transformer-based QG effective but needs refinement</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394979"/>
                  </a:ext>
                </a:extLst>
              </a:tr>
              <a:tr h="1243363">
                <a:tc>
                  <a:txBody>
                    <a:bodyPr/>
                    <a:lstStyle/>
                    <a:p>
                      <a:pPr algn="ctr"/>
                      <a:r>
                        <a:rPr lang="en-IN">
                          <a:latin typeface="Times New Roman" panose="02020603050405020304" pitchFamily="18" charset="0"/>
                          <a:cs typeface="Times New Roman" panose="02020603050405020304" pitchFamily="18" charset="0"/>
                        </a:rPr>
                        <a:t>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IN" sz="1600"/>
                        <a:t>Soni &amp; Singh, AI-Based Exam System (IJRET)</a:t>
                      </a:r>
                      <a:endParaRPr lang="en-IN" sz="1600" b="0" i="0" u="none" strike="noStrike">
                        <a:solidFill>
                          <a:srgbClr val="000000"/>
                        </a:solidFill>
                        <a:effectLst/>
                        <a:latin typeface="Times New Roman" panose="02020603050405020304" pitchFamily="18" charset="0"/>
                        <a:cs typeface="Times New Roman" panose="02020603050405020304" pitchFamily="18"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a:t>MCQ generation + shuffle per user</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a:t>No adaptive difficulty; shuffle limited</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a:t>Improve fairness; future adaptive models</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7401328"/>
                  </a:ext>
                </a:extLst>
              </a:tr>
              <a:tr h="1469429">
                <a:tc>
                  <a:txBody>
                    <a:bodyPr/>
                    <a:lstStyle/>
                    <a:p>
                      <a:pPr algn="ctr"/>
                      <a:r>
                        <a:rPr lang="en-IN">
                          <a:latin typeface="Times New Roman" panose="02020603050405020304" pitchFamily="18" charset="0"/>
                          <a:cs typeface="Times New Roman" panose="02020603050405020304" pitchFamily="18" charset="0"/>
                        </a:rPr>
                        <a:t>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600"/>
                        <a:t>Bhattacharya et al., BERT Quiz Generator (Springer</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a:t>High-accuracy MCQs using BERT</a:t>
                      </a:r>
                      <a:r>
                        <a:rPr lang="en-US" sz="1200">
                          <a:latin typeface="Times New Roman" panose="02020603050405020304" pitchFamily="18" charset="0"/>
                          <a:cs typeface="Times New Roman" panose="02020603050405020304" pitchFamily="18" charset="0"/>
                        </a:rPr>
                        <a:t>.</a:t>
                      </a:r>
                      <a:endParaRPr lang="en-IN" sz="12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a:t>Heavy computation, complex grammar</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600"/>
                        <a:t>Domain-tuned models needed</a:t>
                      </a:r>
                      <a:endParaRPr lang="en-IN" sz="160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7682207"/>
                  </a:ext>
                </a:extLst>
              </a:tr>
            </a:tbl>
          </a:graphicData>
        </a:graphic>
      </p:graphicFrame>
      <p:cxnSp>
        <p:nvCxnSpPr>
          <p:cNvPr id="6" name="Straight Connector 5">
            <a:extLst>
              <a:ext uri="{FF2B5EF4-FFF2-40B4-BE49-F238E27FC236}">
                <a16:creationId xmlns:a16="http://schemas.microsoft.com/office/drawing/2014/main" id="{2DD7B866-0604-FC1D-B241-8B16C205522F}"/>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5511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138EE-F9F4-793A-24E0-F35F67B2199F}"/>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D8128625-0530-D566-BBEE-B8F99E583554}"/>
              </a:ext>
            </a:extLst>
          </p:cNvPr>
          <p:cNvGraphicFramePr>
            <a:graphicFrameLocks noGrp="1"/>
          </p:cNvGraphicFramePr>
          <p:nvPr>
            <p:extLst>
              <p:ext uri="{D42A27DB-BD31-4B8C-83A1-F6EECF244321}">
                <p14:modId xmlns:p14="http://schemas.microsoft.com/office/powerpoint/2010/main" val="412533208"/>
              </p:ext>
            </p:extLst>
          </p:nvPr>
        </p:nvGraphicFramePr>
        <p:xfrm>
          <a:off x="822960" y="506306"/>
          <a:ext cx="9814560" cy="5051215"/>
        </p:xfrm>
        <a:graphic>
          <a:graphicData uri="http://schemas.openxmlformats.org/drawingml/2006/table">
            <a:tbl>
              <a:tblPr firstRow="1" bandRow="1">
                <a:tableStyleId>{5C22544A-7EE6-4342-B048-85BDC9FD1C3A}</a:tableStyleId>
              </a:tblPr>
              <a:tblGrid>
                <a:gridCol w="1330971">
                  <a:extLst>
                    <a:ext uri="{9D8B030D-6E8A-4147-A177-3AD203B41FA5}">
                      <a16:colId xmlns:a16="http://schemas.microsoft.com/office/drawing/2014/main" val="1320049205"/>
                    </a:ext>
                  </a:extLst>
                </a:gridCol>
                <a:gridCol w="2759331">
                  <a:extLst>
                    <a:ext uri="{9D8B030D-6E8A-4147-A177-3AD203B41FA5}">
                      <a16:colId xmlns:a16="http://schemas.microsoft.com/office/drawing/2014/main" val="3748927455"/>
                    </a:ext>
                  </a:extLst>
                </a:gridCol>
                <a:gridCol w="1798434">
                  <a:extLst>
                    <a:ext uri="{9D8B030D-6E8A-4147-A177-3AD203B41FA5}">
                      <a16:colId xmlns:a16="http://schemas.microsoft.com/office/drawing/2014/main" val="1928945823"/>
                    </a:ext>
                  </a:extLst>
                </a:gridCol>
                <a:gridCol w="1962912">
                  <a:extLst>
                    <a:ext uri="{9D8B030D-6E8A-4147-A177-3AD203B41FA5}">
                      <a16:colId xmlns:a16="http://schemas.microsoft.com/office/drawing/2014/main" val="3075992426"/>
                    </a:ext>
                  </a:extLst>
                </a:gridCol>
                <a:gridCol w="1962912">
                  <a:extLst>
                    <a:ext uri="{9D8B030D-6E8A-4147-A177-3AD203B41FA5}">
                      <a16:colId xmlns:a16="http://schemas.microsoft.com/office/drawing/2014/main" val="3928791860"/>
                    </a:ext>
                  </a:extLst>
                </a:gridCol>
              </a:tblGrid>
              <a:tr h="1538527">
                <a:tc>
                  <a:txBody>
                    <a:bodyPr/>
                    <a:lstStyle/>
                    <a:p>
                      <a:r>
                        <a:rPr lang="en-IN"/>
                        <a:t>2021</a:t>
                      </a:r>
                    </a:p>
                  </a:txBody>
                  <a:tcPr/>
                </a:tc>
                <a:tc>
                  <a:txBody>
                    <a:bodyPr/>
                    <a:lstStyle/>
                    <a:p>
                      <a:r>
                        <a:rPr lang="it-IT" sz="1600" b="0"/>
                        <a:t>Ahmed &amp; Kumar, AI Question Generator (IJCTT)</a:t>
                      </a:r>
                      <a:endParaRPr lang="en-IN" sz="1600" b="0"/>
                    </a:p>
                  </a:txBody>
                  <a:tcPr/>
                </a:tc>
                <a:tc>
                  <a:txBody>
                    <a:bodyPr/>
                    <a:lstStyle/>
                    <a:p>
                      <a:r>
                        <a:rPr lang="en-IN" sz="1600" b="0"/>
                        <a:t>Auto MCQ + shuffled options</a:t>
                      </a:r>
                    </a:p>
                  </a:txBody>
                  <a:tcPr/>
                </a:tc>
                <a:tc>
                  <a:txBody>
                    <a:bodyPr/>
                    <a:lstStyle/>
                    <a:p>
                      <a:r>
                        <a:rPr lang="en-IN" sz="1600" b="0"/>
                        <a:t>Limited question types</a:t>
                      </a:r>
                    </a:p>
                  </a:txBody>
                  <a:tcPr/>
                </a:tc>
                <a:tc>
                  <a:txBody>
                    <a:bodyPr/>
                    <a:lstStyle/>
                    <a:p>
                      <a:r>
                        <a:rPr lang="en-IN" sz="1600" b="0"/>
                        <a:t>Add analytics + descriptive support</a:t>
                      </a:r>
                    </a:p>
                  </a:txBody>
                  <a:tcPr/>
                </a:tc>
                <a:extLst>
                  <a:ext uri="{0D108BD9-81ED-4DB2-BD59-A6C34878D82A}">
                    <a16:rowId xmlns:a16="http://schemas.microsoft.com/office/drawing/2014/main" val="1503471089"/>
                  </a:ext>
                </a:extLst>
              </a:tr>
              <a:tr h="1889267">
                <a:tc>
                  <a:txBody>
                    <a:bodyPr/>
                    <a:lstStyle/>
                    <a:p>
                      <a:r>
                        <a:rPr lang="en-IN"/>
                        <a:t>2020</a:t>
                      </a:r>
                    </a:p>
                  </a:txBody>
                  <a:tcPr/>
                </a:tc>
                <a:tc>
                  <a:txBody>
                    <a:bodyPr/>
                    <a:lstStyle/>
                    <a:p>
                      <a:r>
                        <a:rPr lang="en-IN" sz="1600"/>
                        <a:t>Chaware et al., AI-NLP MCQ Generator (IRJET)</a:t>
                      </a:r>
                    </a:p>
                  </a:txBody>
                  <a:tcPr/>
                </a:tc>
                <a:tc>
                  <a:txBody>
                    <a:bodyPr/>
                    <a:lstStyle/>
                    <a:p>
                      <a:r>
                        <a:rPr lang="en-IN" sz="1600"/>
                        <a:t>Keyword extraction + synonyms</a:t>
                      </a:r>
                    </a:p>
                  </a:txBody>
                  <a:tcPr/>
                </a:tc>
                <a:tc>
                  <a:txBody>
                    <a:bodyPr/>
                    <a:lstStyle/>
                    <a:p>
                      <a:r>
                        <a:rPr lang="en-US" sz="1600"/>
                        <a:t>Predictable options, no difficulty level</a:t>
                      </a:r>
                      <a:endParaRPr lang="en-IN" sz="1600"/>
                    </a:p>
                  </a:txBody>
                  <a:tcPr/>
                </a:tc>
                <a:tc>
                  <a:txBody>
                    <a:bodyPr/>
                    <a:lstStyle/>
                    <a:p>
                      <a:r>
                        <a:rPr lang="en-US" sz="1600"/>
                        <a:t>Strong base; requires advanced NLP</a:t>
                      </a:r>
                      <a:endParaRPr lang="en-IN" sz="1600"/>
                    </a:p>
                  </a:txBody>
                  <a:tcPr/>
                </a:tc>
                <a:extLst>
                  <a:ext uri="{0D108BD9-81ED-4DB2-BD59-A6C34878D82A}">
                    <a16:rowId xmlns:a16="http://schemas.microsoft.com/office/drawing/2014/main" val="845941106"/>
                  </a:ext>
                </a:extLst>
              </a:tr>
              <a:tr h="1623421">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134838153"/>
                  </a:ext>
                </a:extLst>
              </a:tr>
            </a:tbl>
          </a:graphicData>
        </a:graphic>
      </p:graphicFrame>
    </p:spTree>
    <p:extLst>
      <p:ext uri="{BB962C8B-B14F-4D97-AF65-F5344CB8AC3E}">
        <p14:creationId xmlns:p14="http://schemas.microsoft.com/office/powerpoint/2010/main" val="9809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43934-22D2-3A91-2854-743D32D3B5D6}"/>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2AB54A4-C0B3-4ABD-BDA8-D72B0903E0B9}"/>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F8755880-F660-C7CB-D40E-1ADD88199657}"/>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0D9CD131-D56C-05F3-065D-AD08BE6D92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8ABA718-8C20-86A8-9BC6-8FEC06DD364F}"/>
              </a:ext>
            </a:extLst>
          </p:cNvPr>
          <p:cNvSpPr txBox="1"/>
          <p:nvPr/>
        </p:nvSpPr>
        <p:spPr>
          <a:xfrm>
            <a:off x="2961266" y="6469113"/>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600ADB5A-50E2-66A9-2B7A-3D14120E904D}"/>
              </a:ext>
            </a:extLst>
          </p:cNvPr>
          <p:cNvSpPr txBox="1"/>
          <p:nvPr/>
        </p:nvSpPr>
        <p:spPr>
          <a:xfrm>
            <a:off x="968055" y="285624"/>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EXECUTION PLAN</a:t>
            </a:r>
          </a:p>
        </p:txBody>
      </p:sp>
      <p:sp>
        <p:nvSpPr>
          <p:cNvPr id="5" name="Rectangle 1">
            <a:extLst>
              <a:ext uri="{FF2B5EF4-FFF2-40B4-BE49-F238E27FC236}">
                <a16:creationId xmlns:a16="http://schemas.microsoft.com/office/drawing/2014/main" id="{B9F6E90E-60FE-1035-7244-A977BEBA5D54}"/>
              </a:ext>
            </a:extLst>
          </p:cNvPr>
          <p:cNvSpPr>
            <a:spLocks noChangeArrowheads="1"/>
          </p:cNvSpPr>
          <p:nvPr/>
        </p:nvSpPr>
        <p:spPr bwMode="auto">
          <a:xfrm>
            <a:off x="1345812" y="1133209"/>
            <a:ext cx="950037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1: Foundation &amp; Design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Define clear workflows for chat, intervention, and counselor booking</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user personas to design a friendly and comfortable UI</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Flutter screens with wellness-friendly color psychology</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 database schema for users, sessions, and counselor calendars</a:t>
            </a:r>
            <a:endParaRPr lang="en-US" altLang="en-US" sz="2000" dirty="0">
              <a:latin typeface="Times New Roman" panose="02020603050405020304" pitchFamily="18" charset="0"/>
              <a:cs typeface="Times New Roman" panose="02020603050405020304" pitchFamily="18" charset="0"/>
            </a:endParaRPr>
          </a:p>
          <a:p>
            <a:pPr lvl="1"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Phase 2: Backend Core Development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API endpoints using FastAPI</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JWT-based secure authentication</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Build appointment scheduling logic</a:t>
            </a:r>
          </a:p>
          <a:p>
            <a:pPr marL="800100" lvl="1" indent="-342900" eaLnBrk="0" fontAlgn="base" hangingPunct="0">
              <a:spcBef>
                <a:spcPct val="0"/>
              </a:spcBef>
              <a:spcAft>
                <a:spcPct val="0"/>
              </a:spcAft>
              <a:buFont typeface="Arial" panose="020B0604020202020204" pitchFamily="34" charset="0"/>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rules for emergency escalation when a student shows critical distress signals</a:t>
            </a:r>
          </a:p>
        </p:txBody>
      </p:sp>
      <p:cxnSp>
        <p:nvCxnSpPr>
          <p:cNvPr id="6" name="Straight Connector 5">
            <a:extLst>
              <a:ext uri="{FF2B5EF4-FFF2-40B4-BE49-F238E27FC236}">
                <a16:creationId xmlns:a16="http://schemas.microsoft.com/office/drawing/2014/main" id="{0AEC1664-0F3E-4202-06F5-31A378CC52A1}"/>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4871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D5675-2A6A-1296-8909-16522FF71C68}"/>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463AF9F-5904-1229-EE2D-079D4031520F}"/>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72D15EDE-4A21-9ED2-1430-CE6094C79668}"/>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946D96EF-C882-FA4F-91CA-FB1D189ABE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94CD5B4-A440-9C91-CC88-8387895C1319}"/>
              </a:ext>
            </a:extLst>
          </p:cNvPr>
          <p:cNvSpPr txBox="1"/>
          <p:nvPr/>
        </p:nvSpPr>
        <p:spPr>
          <a:xfrm>
            <a:off x="2996101" y="6469113"/>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F2605D75-0A1D-E171-6DFA-FF0195086BA7}"/>
              </a:ext>
            </a:extLst>
          </p:cNvPr>
          <p:cNvSpPr txBox="1"/>
          <p:nvPr/>
        </p:nvSpPr>
        <p:spPr>
          <a:xfrm>
            <a:off x="880969" y="285624"/>
            <a:ext cx="4798423"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EXECUTION PLAN</a:t>
            </a:r>
          </a:p>
        </p:txBody>
      </p:sp>
      <p:sp>
        <p:nvSpPr>
          <p:cNvPr id="5" name="Rectangle 1">
            <a:extLst>
              <a:ext uri="{FF2B5EF4-FFF2-40B4-BE49-F238E27FC236}">
                <a16:creationId xmlns:a16="http://schemas.microsoft.com/office/drawing/2014/main" id="{BA965053-AF51-A923-00D2-C3FAC05503F6}"/>
              </a:ext>
            </a:extLst>
          </p:cNvPr>
          <p:cNvSpPr>
            <a:spLocks noChangeArrowheads="1"/>
          </p:cNvSpPr>
          <p:nvPr/>
        </p:nvSpPr>
        <p:spPr bwMode="auto">
          <a:xfrm>
            <a:off x="1345812" y="766733"/>
            <a:ext cx="9500375"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000" b="1"/>
              <a:t>Phase 1: Requirement &amp; Design</a:t>
            </a:r>
            <a:br>
              <a:rPr lang="en-IN" sz="2000"/>
            </a:br>
            <a:r>
              <a:rPr lang="en-IN" sz="2000"/>
              <a:t>• UI design</a:t>
            </a:r>
            <a:br>
              <a:rPr lang="en-IN" sz="2000"/>
            </a:br>
            <a:r>
              <a:rPr lang="en-IN" sz="2000"/>
              <a:t>• Topic selection page</a:t>
            </a:r>
            <a:br>
              <a:rPr lang="en-IN" sz="2000"/>
            </a:br>
            <a:r>
              <a:rPr lang="en-IN" sz="2000"/>
              <a:t>• Database structure</a:t>
            </a:r>
          </a:p>
          <a:p>
            <a:r>
              <a:rPr lang="en-IN" sz="2000" b="1"/>
              <a:t>Phase 2: Backend Development</a:t>
            </a:r>
            <a:br>
              <a:rPr lang="en-IN" sz="2000"/>
            </a:br>
            <a:r>
              <a:rPr lang="en-IN" sz="2000"/>
              <a:t>• API creation</a:t>
            </a:r>
            <a:br>
              <a:rPr lang="en-IN" sz="2000"/>
            </a:br>
            <a:r>
              <a:rPr lang="en-IN" sz="2000"/>
              <a:t>• MCQ generation logic</a:t>
            </a:r>
            <a:br>
              <a:rPr lang="en-IN" sz="2000"/>
            </a:br>
            <a:r>
              <a:rPr lang="en-IN" sz="2000"/>
              <a:t>• AI model integration</a:t>
            </a:r>
          </a:p>
          <a:p>
            <a:r>
              <a:rPr lang="en-IN" sz="2000" b="1"/>
              <a:t>Phase 3: AI Integration</a:t>
            </a:r>
            <a:br>
              <a:rPr lang="en-IN" sz="2000"/>
            </a:br>
            <a:r>
              <a:rPr lang="en-IN" sz="2000"/>
              <a:t>• Implement question-generation model</a:t>
            </a:r>
            <a:br>
              <a:rPr lang="en-IN" sz="2000"/>
            </a:br>
            <a:r>
              <a:rPr lang="en-IN" sz="2000"/>
              <a:t>• Add difficulty-level logic</a:t>
            </a:r>
            <a:br>
              <a:rPr lang="en-IN" sz="2000"/>
            </a:br>
            <a:r>
              <a:rPr lang="en-IN" sz="2000"/>
              <a:t>• Test MCQ accuracy</a:t>
            </a:r>
          </a:p>
          <a:p>
            <a:r>
              <a:rPr lang="en-IN" sz="2000" b="1"/>
              <a:t>Phase 4: Testing &amp; Finalization</a:t>
            </a:r>
            <a:br>
              <a:rPr lang="en-IN" sz="2000"/>
            </a:br>
            <a:r>
              <a:rPr lang="en-IN" sz="2000"/>
              <a:t>• Validate generated questions</a:t>
            </a:r>
            <a:br>
              <a:rPr lang="en-IN" sz="2000"/>
            </a:br>
            <a:r>
              <a:rPr lang="en-IN" sz="2000"/>
              <a:t>• Improve UI</a:t>
            </a:r>
            <a:br>
              <a:rPr lang="en-IN" sz="2000"/>
            </a:br>
            <a:r>
              <a:rPr lang="en-IN" sz="2000"/>
              <a:t>• Prepare final deployment</a:t>
            </a:r>
          </a:p>
          <a:p>
            <a:pPr lvl="0" eaLnBrk="0" fontAlgn="base" hangingPunct="0">
              <a:spcBef>
                <a:spcPct val="0"/>
              </a:spcBef>
              <a:spcAft>
                <a:spcPct val="0"/>
              </a:spcAft>
            </a:pPr>
            <a:endParaRPr lang="en-US" altLang="en-US" sz="2000">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598DB273-DF86-66F2-E261-4D9E0077D3B9}"/>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90042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FCB30-DE98-963B-A8D6-959677BFCF7C}"/>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9BCE5F1D-750D-CFE0-356E-9AE9E0390D96}"/>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563484B0-D665-D5F6-135B-1E99C46007A3}"/>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60661F18-62F7-56D3-ABE1-B63104CFFDA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07FE0E7-EE2D-FD8C-AF93-A646CC2913FC}"/>
              </a:ext>
            </a:extLst>
          </p:cNvPr>
          <p:cNvSpPr txBox="1"/>
          <p:nvPr/>
        </p:nvSpPr>
        <p:spPr>
          <a:xfrm>
            <a:off x="3118020" y="6469113"/>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AD35E056-D3DE-8FBD-00E2-5220F39F76CA}"/>
              </a:ext>
            </a:extLst>
          </p:cNvPr>
          <p:cNvSpPr txBox="1"/>
          <p:nvPr/>
        </p:nvSpPr>
        <p:spPr>
          <a:xfrm>
            <a:off x="1089272" y="277558"/>
            <a:ext cx="6495191"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APPLICATION OF THE PROPOSED WORK</a:t>
            </a:r>
          </a:p>
        </p:txBody>
      </p:sp>
      <p:sp>
        <p:nvSpPr>
          <p:cNvPr id="6" name="Rectangle 1">
            <a:extLst>
              <a:ext uri="{FF2B5EF4-FFF2-40B4-BE49-F238E27FC236}">
                <a16:creationId xmlns:a16="http://schemas.microsoft.com/office/drawing/2014/main" id="{EAE85816-A559-E431-2541-E8816D367FD3}"/>
              </a:ext>
            </a:extLst>
          </p:cNvPr>
          <p:cNvSpPr>
            <a:spLocks noChangeArrowheads="1"/>
          </p:cNvSpPr>
          <p:nvPr/>
        </p:nvSpPr>
        <p:spPr bwMode="auto">
          <a:xfrm>
            <a:off x="1335206" y="1329768"/>
            <a:ext cx="86211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IN"/>
              <a:t>• Students → Practice unlimited MCQs.</a:t>
            </a:r>
          </a:p>
          <a:p>
            <a:pPr eaLnBrk="0" fontAlgn="base" hangingPunct="0">
              <a:spcBef>
                <a:spcPct val="0"/>
              </a:spcBef>
              <a:spcAft>
                <a:spcPct val="0"/>
              </a:spcAft>
            </a:pPr>
            <a:br>
              <a:rPr lang="en-IN"/>
            </a:br>
            <a:r>
              <a:rPr lang="en-IN"/>
              <a:t>• Teachers → Create quick tests and assignments.</a:t>
            </a:r>
          </a:p>
          <a:p>
            <a:pPr eaLnBrk="0" fontAlgn="base" hangingPunct="0">
              <a:spcBef>
                <a:spcPct val="0"/>
              </a:spcBef>
              <a:spcAft>
                <a:spcPct val="0"/>
              </a:spcAft>
            </a:pPr>
            <a:br>
              <a:rPr lang="en-IN"/>
            </a:br>
            <a:r>
              <a:rPr lang="en-IN"/>
              <a:t>• Coaching Institutes → Generate large question banks.</a:t>
            </a:r>
          </a:p>
          <a:p>
            <a:pPr eaLnBrk="0" fontAlgn="base" hangingPunct="0">
              <a:spcBef>
                <a:spcPct val="0"/>
              </a:spcBef>
              <a:spcAft>
                <a:spcPct val="0"/>
              </a:spcAft>
            </a:pPr>
            <a:br>
              <a:rPr lang="en-IN"/>
            </a:br>
            <a:r>
              <a:rPr lang="en-IN"/>
              <a:t>• Competitive exam aspirants → Fresh questions for practice.</a:t>
            </a:r>
          </a:p>
          <a:p>
            <a:pPr eaLnBrk="0" fontAlgn="base" hangingPunct="0">
              <a:spcBef>
                <a:spcPct val="0"/>
              </a:spcBef>
              <a:spcAft>
                <a:spcPct val="0"/>
              </a:spcAft>
            </a:pPr>
            <a:br>
              <a:rPr lang="en-IN"/>
            </a:br>
            <a:r>
              <a:rPr lang="en-IN"/>
              <a:t>• Colleges → Use for internal quizzes, labs, and exams.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cxnSp>
        <p:nvCxnSpPr>
          <p:cNvPr id="7" name="Straight Connector 6">
            <a:extLst>
              <a:ext uri="{FF2B5EF4-FFF2-40B4-BE49-F238E27FC236}">
                <a16:creationId xmlns:a16="http://schemas.microsoft.com/office/drawing/2014/main" id="{13AD7A38-47F7-F828-967A-1BFB8B9CDD90}"/>
              </a:ext>
            </a:extLst>
          </p:cNvPr>
          <p:cNvCxnSpPr>
            <a:cxnSpLocks/>
          </p:cNvCxnSpPr>
          <p:nvPr/>
        </p:nvCxnSpPr>
        <p:spPr>
          <a:xfrm>
            <a:off x="590936" y="245403"/>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404953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26C41-E17B-5881-D4D7-3051CC5EB27F}"/>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EEE55FB-23EF-3754-4F45-8174142751F0}"/>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MINXXXXX</a:t>
            </a:r>
          </a:p>
        </p:txBody>
      </p:sp>
      <p:cxnSp>
        <p:nvCxnSpPr>
          <p:cNvPr id="14" name="Straight Connector 13">
            <a:extLst>
              <a:ext uri="{FF2B5EF4-FFF2-40B4-BE49-F238E27FC236}">
                <a16:creationId xmlns:a16="http://schemas.microsoft.com/office/drawing/2014/main" id="{30A91065-A856-1ABD-014D-93C6E8280472}"/>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02AB3BDA-E49F-90E8-89E1-60D5229C6AD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9259AF3-8998-083E-736C-93EF6B8E2F53}"/>
              </a:ext>
            </a:extLst>
          </p:cNvPr>
          <p:cNvSpPr txBox="1"/>
          <p:nvPr/>
        </p:nvSpPr>
        <p:spPr>
          <a:xfrm>
            <a:off x="3527323" y="6488668"/>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2D9A5E95-620F-E221-2D07-A1BB90E374DB}"/>
              </a:ext>
            </a:extLst>
          </p:cNvPr>
          <p:cNvSpPr txBox="1"/>
          <p:nvPr/>
        </p:nvSpPr>
        <p:spPr>
          <a:xfrm>
            <a:off x="923809" y="516455"/>
            <a:ext cx="3247597"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CONCLUSION</a:t>
            </a:r>
          </a:p>
        </p:txBody>
      </p:sp>
      <p:sp>
        <p:nvSpPr>
          <p:cNvPr id="6" name="Rectangle 1">
            <a:extLst>
              <a:ext uri="{FF2B5EF4-FFF2-40B4-BE49-F238E27FC236}">
                <a16:creationId xmlns:a16="http://schemas.microsoft.com/office/drawing/2014/main" id="{D0064E9E-227F-9FE3-108D-7B7B2A285B82}"/>
              </a:ext>
            </a:extLst>
          </p:cNvPr>
          <p:cNvSpPr>
            <a:spLocks noChangeArrowheads="1"/>
          </p:cNvSpPr>
          <p:nvPr/>
        </p:nvSpPr>
        <p:spPr bwMode="auto">
          <a:xfrm>
            <a:off x="923809" y="1643896"/>
            <a:ext cx="909404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spcBef>
                <a:spcPct val="0"/>
              </a:spcBef>
              <a:spcAft>
                <a:spcPct val="0"/>
              </a:spcAft>
            </a:pPr>
            <a:r>
              <a:rPr lang="en-US" sz="2000"/>
              <a:t>The </a:t>
            </a:r>
            <a:r>
              <a:rPr lang="en-US" sz="2000" b="1"/>
              <a:t>AI Driven MCQ Quiz Generator</a:t>
            </a:r>
            <a:r>
              <a:rPr lang="en-US" sz="2000"/>
              <a:t> provides a modern, fast, and intelligent way to produce high-quality MCQs. It saves time, reduces manual effort, and ensures fresh question sets every time. The system supports both teachers and students, making learning more interactive, adaptive, and efficient. This project demonstrates how AI can transform the traditional approach to question creation in education.</a:t>
            </a:r>
            <a:endPar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cxnSp>
        <p:nvCxnSpPr>
          <p:cNvPr id="5" name="Straight Connector 4">
            <a:extLst>
              <a:ext uri="{FF2B5EF4-FFF2-40B4-BE49-F238E27FC236}">
                <a16:creationId xmlns:a16="http://schemas.microsoft.com/office/drawing/2014/main" id="{D83D621B-EBDE-4193-19BE-6C9E8DD9CFD6}"/>
              </a:ext>
            </a:extLst>
          </p:cNvPr>
          <p:cNvCxnSpPr>
            <a:cxnSpLocks/>
          </p:cNvCxnSpPr>
          <p:nvPr/>
        </p:nvCxnSpPr>
        <p:spPr>
          <a:xfrm>
            <a:off x="590936" y="476234"/>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964379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B4BC7-D2E5-ACF6-D8F3-3C37E10497A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3B30D4FC-EF5B-31CD-F883-837EEF0E723F}"/>
              </a:ext>
            </a:extLst>
          </p:cNvPr>
          <p:cNvSpPr txBox="1"/>
          <p:nvPr/>
        </p:nvSpPr>
        <p:spPr>
          <a:xfrm>
            <a:off x="-1479013"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CE841061-752E-3802-D024-F214481E06CC}"/>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6BABF120-36AB-8E67-A5CB-C6D6E41010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AE02D40-0464-19A8-3C9C-1B5279CE1499}"/>
              </a:ext>
            </a:extLst>
          </p:cNvPr>
          <p:cNvSpPr txBox="1"/>
          <p:nvPr/>
        </p:nvSpPr>
        <p:spPr>
          <a:xfrm>
            <a:off x="2996100" y="6479443"/>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3" name="TextBox 2">
            <a:extLst>
              <a:ext uri="{FF2B5EF4-FFF2-40B4-BE49-F238E27FC236}">
                <a16:creationId xmlns:a16="http://schemas.microsoft.com/office/drawing/2014/main" id="{146B12E4-C490-6D22-97C1-01F292E22754}"/>
              </a:ext>
            </a:extLst>
          </p:cNvPr>
          <p:cNvSpPr txBox="1"/>
          <p:nvPr/>
        </p:nvSpPr>
        <p:spPr>
          <a:xfrm>
            <a:off x="906392" y="516455"/>
            <a:ext cx="3247597"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REFERENCES</a:t>
            </a:r>
          </a:p>
        </p:txBody>
      </p:sp>
      <p:cxnSp>
        <p:nvCxnSpPr>
          <p:cNvPr id="5" name="Straight Connector 4">
            <a:extLst>
              <a:ext uri="{FF2B5EF4-FFF2-40B4-BE49-F238E27FC236}">
                <a16:creationId xmlns:a16="http://schemas.microsoft.com/office/drawing/2014/main" id="{60E47B91-2DBF-A4A6-AC91-D85F746C03FD}"/>
              </a:ext>
            </a:extLst>
          </p:cNvPr>
          <p:cNvCxnSpPr>
            <a:cxnSpLocks/>
          </p:cNvCxnSpPr>
          <p:nvPr/>
        </p:nvCxnSpPr>
        <p:spPr>
          <a:xfrm>
            <a:off x="590936" y="476234"/>
            <a:ext cx="0" cy="542109"/>
          </a:xfrm>
          <a:prstGeom prst="line">
            <a:avLst/>
          </a:prstGeom>
          <a:ln w="38100"/>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DE8F6261-5022-4CD7-A194-7A8E54F3EE0A}"/>
              </a:ext>
            </a:extLst>
          </p:cNvPr>
          <p:cNvSpPr txBox="1"/>
          <p:nvPr/>
        </p:nvSpPr>
        <p:spPr>
          <a:xfrm>
            <a:off x="1524001" y="3040355"/>
            <a:ext cx="6969759" cy="646331"/>
          </a:xfrm>
          <a:prstGeom prst="rect">
            <a:avLst/>
          </a:prstGeom>
          <a:noFill/>
        </p:spPr>
        <p:txBody>
          <a:bodyPr wrap="square" rtlCol="0">
            <a:spAutoFit/>
          </a:bodyPr>
          <a:lstStyle/>
          <a:p>
            <a:r>
              <a:rPr lang="en-IN">
                <a:hlinkClick r:id="rId4"/>
              </a:rPr>
              <a:t>https://link.springer.com/article/10.1007/s10639-023-11928-8</a:t>
            </a:r>
            <a:r>
              <a:rPr lang="en-IN"/>
              <a:t> - 2022</a:t>
            </a:r>
          </a:p>
          <a:p>
            <a:endParaRPr lang="en-IN">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97EDA1F-78B0-21BE-429D-77F578577033}"/>
              </a:ext>
            </a:extLst>
          </p:cNvPr>
          <p:cNvSpPr txBox="1"/>
          <p:nvPr/>
        </p:nvSpPr>
        <p:spPr>
          <a:xfrm>
            <a:off x="1524001" y="1619372"/>
            <a:ext cx="10302239" cy="369332"/>
          </a:xfrm>
          <a:prstGeom prst="rect">
            <a:avLst/>
          </a:prstGeom>
          <a:noFill/>
        </p:spPr>
        <p:txBody>
          <a:bodyPr wrap="square">
            <a:spAutoFit/>
          </a:bodyPr>
          <a:lstStyle/>
          <a:p>
            <a:r>
              <a:rPr lang="en-IN">
                <a:hlinkClick r:id="rId5"/>
              </a:rPr>
              <a:t>https://thesai.org/Downloads/Volume15No1/Paper_3-Automatic_MCQs_Generation_using_NLP.pdf</a:t>
            </a:r>
            <a:r>
              <a:rPr lang="en-IN"/>
              <a:t> -2025</a:t>
            </a:r>
          </a:p>
        </p:txBody>
      </p:sp>
      <p:sp>
        <p:nvSpPr>
          <p:cNvPr id="16" name="TextBox 15">
            <a:extLst>
              <a:ext uri="{FF2B5EF4-FFF2-40B4-BE49-F238E27FC236}">
                <a16:creationId xmlns:a16="http://schemas.microsoft.com/office/drawing/2014/main" id="{99402DC6-2C24-5609-7C9E-10816DB19D36}"/>
              </a:ext>
            </a:extLst>
          </p:cNvPr>
          <p:cNvSpPr txBox="1"/>
          <p:nvPr/>
        </p:nvSpPr>
        <p:spPr>
          <a:xfrm>
            <a:off x="1524001" y="2078988"/>
            <a:ext cx="6837680" cy="369332"/>
          </a:xfrm>
          <a:prstGeom prst="rect">
            <a:avLst/>
          </a:prstGeom>
          <a:noFill/>
        </p:spPr>
        <p:txBody>
          <a:bodyPr wrap="square">
            <a:spAutoFit/>
          </a:bodyPr>
          <a:lstStyle/>
          <a:p>
            <a:pPr>
              <a:buNone/>
            </a:pPr>
            <a:r>
              <a:rPr lang="en-IN">
                <a:hlinkClick r:id="rId6"/>
              </a:rPr>
              <a:t>https://ieeexplore.ieee.org/document/10013345</a:t>
            </a:r>
            <a:r>
              <a:rPr lang="en-IN"/>
              <a:t> - 2024</a:t>
            </a:r>
          </a:p>
        </p:txBody>
      </p:sp>
      <p:sp>
        <p:nvSpPr>
          <p:cNvPr id="18" name="TextBox 17">
            <a:extLst>
              <a:ext uri="{FF2B5EF4-FFF2-40B4-BE49-F238E27FC236}">
                <a16:creationId xmlns:a16="http://schemas.microsoft.com/office/drawing/2014/main" id="{68089154-D11F-0D02-C381-33381C3B1B4B}"/>
              </a:ext>
            </a:extLst>
          </p:cNvPr>
          <p:cNvSpPr txBox="1"/>
          <p:nvPr/>
        </p:nvSpPr>
        <p:spPr>
          <a:xfrm>
            <a:off x="1524001" y="2566405"/>
            <a:ext cx="6837680" cy="369332"/>
          </a:xfrm>
          <a:prstGeom prst="rect">
            <a:avLst/>
          </a:prstGeom>
          <a:noFill/>
        </p:spPr>
        <p:txBody>
          <a:bodyPr wrap="square">
            <a:spAutoFit/>
          </a:bodyPr>
          <a:lstStyle/>
          <a:p>
            <a:pPr>
              <a:buNone/>
            </a:pPr>
            <a:r>
              <a:rPr lang="en-IN">
                <a:hlinkClick r:id="rId4"/>
              </a:rPr>
              <a:t>https://link.springer.com/article/10.1007/s10639-023-11928-8</a:t>
            </a:r>
            <a:r>
              <a:rPr lang="en-IN"/>
              <a:t> -2023</a:t>
            </a:r>
          </a:p>
        </p:txBody>
      </p:sp>
    </p:spTree>
    <p:extLst>
      <p:ext uri="{BB962C8B-B14F-4D97-AF65-F5344CB8AC3E}">
        <p14:creationId xmlns:p14="http://schemas.microsoft.com/office/powerpoint/2010/main" val="3252407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FE1F1-4E2B-A28A-0F45-C0C1D42ABFB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5FBEF85-1964-EDE8-D4C3-2D1CB172E352}"/>
              </a:ext>
            </a:extLst>
          </p:cNvPr>
          <p:cNvSpPr txBox="1"/>
          <p:nvPr/>
        </p:nvSpPr>
        <p:spPr>
          <a:xfrm>
            <a:off x="-1487722" y="6488668"/>
            <a:ext cx="6324601" cy="307777"/>
          </a:xfrm>
          <a:prstGeom prst="rect">
            <a:avLst/>
          </a:prstGeom>
          <a:noFill/>
        </p:spPr>
        <p:txBody>
          <a:bodyPr wrap="square" rtlCol="0">
            <a:spAutoFit/>
          </a:bodyPr>
          <a:lstStyle/>
          <a:p>
            <a:pPr algn="ctr"/>
            <a:r>
              <a:rPr lang="en-US" sz="1400" b="1"/>
              <a:t>MINOR PROJECT ID : MIN12</a:t>
            </a:r>
          </a:p>
        </p:txBody>
      </p:sp>
      <p:cxnSp>
        <p:nvCxnSpPr>
          <p:cNvPr id="14" name="Straight Connector 13">
            <a:extLst>
              <a:ext uri="{FF2B5EF4-FFF2-40B4-BE49-F238E27FC236}">
                <a16:creationId xmlns:a16="http://schemas.microsoft.com/office/drawing/2014/main" id="{39D3D385-E246-0763-EA96-84BB5FEDCB0A}"/>
              </a:ext>
            </a:extLst>
          </p:cNvPr>
          <p:cNvCxnSpPr/>
          <p:nvPr/>
        </p:nvCxnSpPr>
        <p:spPr>
          <a:xfrm>
            <a:off x="1524001" y="6329515"/>
            <a:ext cx="9156405" cy="0"/>
          </a:xfrm>
          <a:prstGeom prst="line">
            <a:avLst/>
          </a:prstGeom>
          <a:ln w="38100"/>
        </p:spPr>
        <p:style>
          <a:lnRef idx="1">
            <a:schemeClr val="accent2"/>
          </a:lnRef>
          <a:fillRef idx="0">
            <a:schemeClr val="accent2"/>
          </a:fillRef>
          <a:effectRef idx="0">
            <a:schemeClr val="accent2"/>
          </a:effectRef>
          <a:fontRef idx="minor">
            <a:schemeClr val="tx1"/>
          </a:fontRef>
        </p:style>
      </p:cxnSp>
      <p:pic>
        <p:nvPicPr>
          <p:cNvPr id="2" name="Picture 2">
            <a:extLst>
              <a:ext uri="{FF2B5EF4-FFF2-40B4-BE49-F238E27FC236}">
                <a16:creationId xmlns:a16="http://schemas.microsoft.com/office/drawing/2014/main" id="{94D302A1-30F6-B2EB-A68B-F471D6ACC70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01153" y="6148296"/>
            <a:ext cx="524149" cy="6285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306B2E2-A7D2-5C09-CB57-01D680F4C91F}"/>
              </a:ext>
            </a:extLst>
          </p:cNvPr>
          <p:cNvSpPr txBox="1"/>
          <p:nvPr/>
        </p:nvSpPr>
        <p:spPr>
          <a:xfrm>
            <a:off x="3170272" y="6488668"/>
            <a:ext cx="6838334" cy="307777"/>
          </a:xfrm>
          <a:prstGeom prst="rect">
            <a:avLst/>
          </a:prstGeom>
          <a:noFill/>
        </p:spPr>
        <p:txBody>
          <a:bodyPr wrap="square">
            <a:spAutoFit/>
          </a:bodyPr>
          <a:lstStyle/>
          <a:p>
            <a:pPr lvl="0" algn="ctr">
              <a:spcBef>
                <a:spcPct val="20000"/>
              </a:spcBef>
              <a:defRPr/>
            </a:pPr>
            <a:r>
              <a:rPr lang="en-US" sz="1400" b="1">
                <a:latin typeface="Times New Roman" panose="02020603050405020304" pitchFamily="18" charset="0"/>
                <a:cs typeface="Times New Roman" panose="02020603050405020304" pitchFamily="18" charset="0"/>
              </a:rPr>
              <a:t>DEPARTMENT OF COMPUTER SCIENCE &amp; ENGINEERING, SIRT</a:t>
            </a:r>
          </a:p>
        </p:txBody>
      </p:sp>
      <p:sp>
        <p:nvSpPr>
          <p:cNvPr id="5" name="TextBox 4">
            <a:extLst>
              <a:ext uri="{FF2B5EF4-FFF2-40B4-BE49-F238E27FC236}">
                <a16:creationId xmlns:a16="http://schemas.microsoft.com/office/drawing/2014/main" id="{0F47788F-E002-4C05-59E6-42F200350759}"/>
              </a:ext>
            </a:extLst>
          </p:cNvPr>
          <p:cNvSpPr txBox="1"/>
          <p:nvPr/>
        </p:nvSpPr>
        <p:spPr>
          <a:xfrm>
            <a:off x="4259686" y="2647305"/>
            <a:ext cx="6838334" cy="923330"/>
          </a:xfrm>
          <a:prstGeom prst="rect">
            <a:avLst/>
          </a:prstGeom>
          <a:noFill/>
        </p:spPr>
        <p:txBody>
          <a:bodyPr wrap="square">
            <a:spAutoFit/>
          </a:bodyPr>
          <a:lstStyle/>
          <a:p>
            <a:r>
              <a:rPr lang="en-US" sz="5400" b="1">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139445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1167</Words>
  <Application>Microsoft Office PowerPoint</Application>
  <PresentationFormat>Widescreen</PresentationFormat>
  <Paragraphs>145</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tasneem jahan</dc:creator>
  <cp:lastModifiedBy>Pranshu Mishra</cp:lastModifiedBy>
  <cp:revision>3</cp:revision>
  <dcterms:created xsi:type="dcterms:W3CDTF">2025-11-18T03:20:15Z</dcterms:created>
  <dcterms:modified xsi:type="dcterms:W3CDTF">2026-06-18T06:48:36Z</dcterms:modified>
</cp:coreProperties>
</file>